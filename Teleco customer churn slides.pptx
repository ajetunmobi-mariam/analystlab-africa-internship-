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4"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C22"/>
    <a:srgbClr val="0009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3" d="100"/>
          <a:sy n="83" d="100"/>
        </p:scale>
        <p:origin x="1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m Ajetunmobi" userId="ea1a0dde1fe98e4c" providerId="LiveId" clId="{15ACFF1F-CB5B-4E09-A464-ACC3BDDF58DC}"/>
    <pc:docChg chg="undo custSel addSld delSld modSld">
      <pc:chgData name="Mariam Ajetunmobi" userId="ea1a0dde1fe98e4c" providerId="LiveId" clId="{15ACFF1F-CB5B-4E09-A464-ACC3BDDF58DC}" dt="2026-07-04T16:20:35.383" v="2447" actId="2711"/>
      <pc:docMkLst>
        <pc:docMk/>
      </pc:docMkLst>
      <pc:sldChg chg="modSp mod setBg">
        <pc:chgData name="Mariam Ajetunmobi" userId="ea1a0dde1fe98e4c" providerId="LiveId" clId="{15ACFF1F-CB5B-4E09-A464-ACC3BDDF58DC}" dt="2026-07-04T16:06:31.658" v="2368" actId="2711"/>
        <pc:sldMkLst>
          <pc:docMk/>
          <pc:sldMk cId="1851539720" sldId="256"/>
        </pc:sldMkLst>
        <pc:spChg chg="mod">
          <ac:chgData name="Mariam Ajetunmobi" userId="ea1a0dde1fe98e4c" providerId="LiveId" clId="{15ACFF1F-CB5B-4E09-A464-ACC3BDDF58DC}" dt="2026-07-04T16:05:56.854" v="2363" actId="27636"/>
          <ac:spMkLst>
            <pc:docMk/>
            <pc:sldMk cId="1851539720" sldId="256"/>
            <ac:spMk id="2" creationId="{3D4D86CE-9236-B940-5D8F-8F67E633F26B}"/>
          </ac:spMkLst>
        </pc:spChg>
        <pc:spChg chg="mod">
          <ac:chgData name="Mariam Ajetunmobi" userId="ea1a0dde1fe98e4c" providerId="LiveId" clId="{15ACFF1F-CB5B-4E09-A464-ACC3BDDF58DC}" dt="2026-07-04T16:06:21.340" v="2367" actId="27636"/>
          <ac:spMkLst>
            <pc:docMk/>
            <pc:sldMk cId="1851539720" sldId="256"/>
            <ac:spMk id="3" creationId="{C7F86063-632F-62C2-93F0-F5E0991FFED9}"/>
          </ac:spMkLst>
        </pc:spChg>
        <pc:spChg chg="mod">
          <ac:chgData name="Mariam Ajetunmobi" userId="ea1a0dde1fe98e4c" providerId="LiveId" clId="{15ACFF1F-CB5B-4E09-A464-ACC3BDDF58DC}" dt="2026-07-04T16:06:31.658" v="2368" actId="2711"/>
          <ac:spMkLst>
            <pc:docMk/>
            <pc:sldMk cId="1851539720" sldId="256"/>
            <ac:spMk id="4" creationId="{9A1BD72D-047F-9289-B986-41926CB49FF4}"/>
          </ac:spMkLst>
        </pc:spChg>
      </pc:sldChg>
      <pc:sldChg chg="modSp mod">
        <pc:chgData name="Mariam Ajetunmobi" userId="ea1a0dde1fe98e4c" providerId="LiveId" clId="{15ACFF1F-CB5B-4E09-A464-ACC3BDDF58DC}" dt="2026-07-04T16:08:31.659" v="2372" actId="14100"/>
        <pc:sldMkLst>
          <pc:docMk/>
          <pc:sldMk cId="2123602668" sldId="257"/>
        </pc:sldMkLst>
        <pc:spChg chg="mod">
          <ac:chgData name="Mariam Ajetunmobi" userId="ea1a0dde1fe98e4c" providerId="LiveId" clId="{15ACFF1F-CB5B-4E09-A464-ACC3BDDF58DC}" dt="2026-07-04T16:07:51.609" v="2370" actId="255"/>
          <ac:spMkLst>
            <pc:docMk/>
            <pc:sldMk cId="2123602668" sldId="257"/>
            <ac:spMk id="2" creationId="{A4145F71-7F34-9487-E3AE-B37E43202456}"/>
          </ac:spMkLst>
        </pc:spChg>
        <pc:spChg chg="mod">
          <ac:chgData name="Mariam Ajetunmobi" userId="ea1a0dde1fe98e4c" providerId="LiveId" clId="{15ACFF1F-CB5B-4E09-A464-ACC3BDDF58DC}" dt="2026-07-04T16:08:31.659" v="2372" actId="14100"/>
          <ac:spMkLst>
            <pc:docMk/>
            <pc:sldMk cId="2123602668" sldId="257"/>
            <ac:spMk id="3" creationId="{D450AB7E-6968-5CDA-8EF3-010A5DCE9AC6}"/>
          </ac:spMkLst>
        </pc:spChg>
      </pc:sldChg>
      <pc:sldChg chg="modSp mod">
        <pc:chgData name="Mariam Ajetunmobi" userId="ea1a0dde1fe98e4c" providerId="LiveId" clId="{15ACFF1F-CB5B-4E09-A464-ACC3BDDF58DC}" dt="2026-07-04T16:15:36.617" v="2421" actId="115"/>
        <pc:sldMkLst>
          <pc:docMk/>
          <pc:sldMk cId="4272475797" sldId="258"/>
        </pc:sldMkLst>
        <pc:spChg chg="mod">
          <ac:chgData name="Mariam Ajetunmobi" userId="ea1a0dde1fe98e4c" providerId="LiveId" clId="{15ACFF1F-CB5B-4E09-A464-ACC3BDDF58DC}" dt="2026-07-04T16:10:16.102" v="2387" actId="14100"/>
          <ac:spMkLst>
            <pc:docMk/>
            <pc:sldMk cId="4272475797" sldId="258"/>
            <ac:spMk id="2" creationId="{9E855F3E-7AE7-954E-F139-2B5D1370517A}"/>
          </ac:spMkLst>
        </pc:spChg>
        <pc:spChg chg="mod">
          <ac:chgData name="Mariam Ajetunmobi" userId="ea1a0dde1fe98e4c" providerId="LiveId" clId="{15ACFF1F-CB5B-4E09-A464-ACC3BDDF58DC}" dt="2026-07-04T16:15:36.617" v="2421" actId="115"/>
          <ac:spMkLst>
            <pc:docMk/>
            <pc:sldMk cId="4272475797" sldId="258"/>
            <ac:spMk id="3" creationId="{71EACDBB-DEA7-4880-8862-93B7427389DE}"/>
          </ac:spMkLst>
        </pc:spChg>
        <pc:graphicFrameChg chg="mod modGraphic">
          <ac:chgData name="Mariam Ajetunmobi" userId="ea1a0dde1fe98e4c" providerId="LiveId" clId="{15ACFF1F-CB5B-4E09-A464-ACC3BDDF58DC}" dt="2026-07-04T16:11:41.882" v="2395" actId="255"/>
          <ac:graphicFrameMkLst>
            <pc:docMk/>
            <pc:sldMk cId="4272475797" sldId="258"/>
            <ac:graphicFrameMk id="4" creationId="{F5817F21-6B65-C752-142A-79F8E1A03409}"/>
          </ac:graphicFrameMkLst>
        </pc:graphicFrameChg>
      </pc:sldChg>
      <pc:sldChg chg="addSp delSp modSp mod">
        <pc:chgData name="Mariam Ajetunmobi" userId="ea1a0dde1fe98e4c" providerId="LiveId" clId="{15ACFF1F-CB5B-4E09-A464-ACC3BDDF58DC}" dt="2026-07-04T16:13:00.493" v="2406" actId="14100"/>
        <pc:sldMkLst>
          <pc:docMk/>
          <pc:sldMk cId="1620041812" sldId="259"/>
        </pc:sldMkLst>
        <pc:spChg chg="mod">
          <ac:chgData name="Mariam Ajetunmobi" userId="ea1a0dde1fe98e4c" providerId="LiveId" clId="{15ACFF1F-CB5B-4E09-A464-ACC3BDDF58DC}" dt="2026-07-04T16:12:38.813" v="2400" actId="14100"/>
          <ac:spMkLst>
            <pc:docMk/>
            <pc:sldMk cId="1620041812" sldId="259"/>
            <ac:spMk id="2" creationId="{04FB982D-C31E-ECE8-4BC5-D2AF3CDDB4F7}"/>
          </ac:spMkLst>
        </pc:spChg>
        <pc:spChg chg="del">
          <ac:chgData name="Mariam Ajetunmobi" userId="ea1a0dde1fe98e4c" providerId="LiveId" clId="{15ACFF1F-CB5B-4E09-A464-ACC3BDDF58DC}" dt="2026-07-04T11:31:52.119" v="49" actId="931"/>
          <ac:spMkLst>
            <pc:docMk/>
            <pc:sldMk cId="1620041812" sldId="259"/>
            <ac:spMk id="3" creationId="{029AB8CC-8148-EA79-1DE5-97AB91FACF6E}"/>
          </ac:spMkLst>
        </pc:spChg>
        <pc:spChg chg="add del mod">
          <ac:chgData name="Mariam Ajetunmobi" userId="ea1a0dde1fe98e4c" providerId="LiveId" clId="{15ACFF1F-CB5B-4E09-A464-ACC3BDDF58DC}" dt="2026-07-04T11:45:12.518" v="62" actId="931"/>
          <ac:spMkLst>
            <pc:docMk/>
            <pc:sldMk cId="1620041812" sldId="259"/>
            <ac:spMk id="9" creationId="{95FA27D9-66B7-C90F-66BA-CC9C930405C2}"/>
          </ac:spMkLst>
        </pc:spChg>
        <pc:spChg chg="add del mod">
          <ac:chgData name="Mariam Ajetunmobi" userId="ea1a0dde1fe98e4c" providerId="LiveId" clId="{15ACFF1F-CB5B-4E09-A464-ACC3BDDF58DC}" dt="2026-07-04T11:50:49.506" v="99" actId="478"/>
          <ac:spMkLst>
            <pc:docMk/>
            <pc:sldMk cId="1620041812" sldId="259"/>
            <ac:spMk id="15" creationId="{B67C316D-1792-6D5F-7EE7-223097EAC2B0}"/>
          </ac:spMkLst>
        </pc:spChg>
        <pc:spChg chg="add mod">
          <ac:chgData name="Mariam Ajetunmobi" userId="ea1a0dde1fe98e4c" providerId="LiveId" clId="{15ACFF1F-CB5B-4E09-A464-ACC3BDDF58DC}" dt="2026-07-04T16:12:43.773" v="2402" actId="27636"/>
          <ac:spMkLst>
            <pc:docMk/>
            <pc:sldMk cId="1620041812" sldId="259"/>
            <ac:spMk id="17" creationId="{6811ABF8-6ED5-B961-D116-98E527B06353}"/>
          </ac:spMkLst>
        </pc:spChg>
        <pc:picChg chg="add del mod ord">
          <ac:chgData name="Mariam Ajetunmobi" userId="ea1a0dde1fe98e4c" providerId="LiveId" clId="{15ACFF1F-CB5B-4E09-A464-ACC3BDDF58DC}" dt="2026-07-04T11:44:58.720" v="61" actId="478"/>
          <ac:picMkLst>
            <pc:docMk/>
            <pc:sldMk cId="1620041812" sldId="259"/>
            <ac:picMk id="7" creationId="{36BDF8B2-7DBB-55B0-FB07-E8BB643ACE06}"/>
          </ac:picMkLst>
        </pc:picChg>
        <pc:picChg chg="add del mod ord">
          <ac:chgData name="Mariam Ajetunmobi" userId="ea1a0dde1fe98e4c" providerId="LiveId" clId="{15ACFF1F-CB5B-4E09-A464-ACC3BDDF58DC}" dt="2026-07-04T11:51:05.332" v="110" actId="478"/>
          <ac:picMkLst>
            <pc:docMk/>
            <pc:sldMk cId="1620041812" sldId="259"/>
            <ac:picMk id="11" creationId="{FB080739-A69D-01E5-C1E0-B832667A7648}"/>
          </ac:picMkLst>
        </pc:picChg>
        <pc:picChg chg="add del mod">
          <ac:chgData name="Mariam Ajetunmobi" userId="ea1a0dde1fe98e4c" providerId="LiveId" clId="{15ACFF1F-CB5B-4E09-A464-ACC3BDDF58DC}" dt="2026-07-04T11:51:00.751" v="109" actId="478"/>
          <ac:picMkLst>
            <pc:docMk/>
            <pc:sldMk cId="1620041812" sldId="259"/>
            <ac:picMk id="13" creationId="{3DD81C59-5164-D42E-A15C-4662863120F1}"/>
          </ac:picMkLst>
        </pc:picChg>
        <pc:picChg chg="add mod">
          <ac:chgData name="Mariam Ajetunmobi" userId="ea1a0dde1fe98e4c" providerId="LiveId" clId="{15ACFF1F-CB5B-4E09-A464-ACC3BDDF58DC}" dt="2026-07-04T16:12:53.292" v="2404" actId="14100"/>
          <ac:picMkLst>
            <pc:docMk/>
            <pc:sldMk cId="1620041812" sldId="259"/>
            <ac:picMk id="19" creationId="{3FA7C47C-DD54-0694-DA74-CCC5E49B47CF}"/>
          </ac:picMkLst>
        </pc:picChg>
        <pc:picChg chg="add mod">
          <ac:chgData name="Mariam Ajetunmobi" userId="ea1a0dde1fe98e4c" providerId="LiveId" clId="{15ACFF1F-CB5B-4E09-A464-ACC3BDDF58DC}" dt="2026-07-04T16:13:00.493" v="2406" actId="14100"/>
          <ac:picMkLst>
            <pc:docMk/>
            <pc:sldMk cId="1620041812" sldId="259"/>
            <ac:picMk id="21" creationId="{01DBEB39-C761-5DAB-3A83-BBE0C52D40B5}"/>
          </ac:picMkLst>
        </pc:picChg>
      </pc:sldChg>
      <pc:sldChg chg="addSp modSp new mod setBg">
        <pc:chgData name="Mariam Ajetunmobi" userId="ea1a0dde1fe98e4c" providerId="LiveId" clId="{15ACFF1F-CB5B-4E09-A464-ACC3BDDF58DC}" dt="2026-07-04T16:17:22.283" v="2427" actId="122"/>
        <pc:sldMkLst>
          <pc:docMk/>
          <pc:sldMk cId="2738061463" sldId="260"/>
        </pc:sldMkLst>
        <pc:spChg chg="mod">
          <ac:chgData name="Mariam Ajetunmobi" userId="ea1a0dde1fe98e4c" providerId="LiveId" clId="{15ACFF1F-CB5B-4E09-A464-ACC3BDDF58DC}" dt="2026-07-04T16:17:22.283" v="2427" actId="122"/>
          <ac:spMkLst>
            <pc:docMk/>
            <pc:sldMk cId="2738061463" sldId="260"/>
            <ac:spMk id="2" creationId="{808649F4-40B0-8F9F-CA76-8CC1013CB472}"/>
          </ac:spMkLst>
        </pc:spChg>
        <pc:spChg chg="mod">
          <ac:chgData name="Mariam Ajetunmobi" userId="ea1a0dde1fe98e4c" providerId="LiveId" clId="{15ACFF1F-CB5B-4E09-A464-ACC3BDDF58DC}" dt="2026-07-04T16:16:31.399" v="2423" actId="255"/>
          <ac:spMkLst>
            <pc:docMk/>
            <pc:sldMk cId="2738061463" sldId="260"/>
            <ac:spMk id="3" creationId="{9455C46C-7F28-2A7C-685E-F5BD95C2EF57}"/>
          </ac:spMkLst>
        </pc:spChg>
        <pc:picChg chg="add mod">
          <ac:chgData name="Mariam Ajetunmobi" userId="ea1a0dde1fe98e4c" providerId="LiveId" clId="{15ACFF1F-CB5B-4E09-A464-ACC3BDDF58DC}" dt="2026-07-04T12:18:18.256" v="901" actId="14100"/>
          <ac:picMkLst>
            <pc:docMk/>
            <pc:sldMk cId="2738061463" sldId="260"/>
            <ac:picMk id="5" creationId="{F0B14803-4AB8-7E6E-B0D9-FA98711B3F65}"/>
          </ac:picMkLst>
        </pc:picChg>
        <pc:picChg chg="add mod">
          <ac:chgData name="Mariam Ajetunmobi" userId="ea1a0dde1fe98e4c" providerId="LiveId" clId="{15ACFF1F-CB5B-4E09-A464-ACC3BDDF58DC}" dt="2026-07-04T12:53:44.691" v="1184" actId="14100"/>
          <ac:picMkLst>
            <pc:docMk/>
            <pc:sldMk cId="2738061463" sldId="260"/>
            <ac:picMk id="7" creationId="{3A6EA2AA-8EF9-C198-3784-02302795D410}"/>
          </ac:picMkLst>
        </pc:picChg>
      </pc:sldChg>
      <pc:sldChg chg="addSp modSp new mod">
        <pc:chgData name="Mariam Ajetunmobi" userId="ea1a0dde1fe98e4c" providerId="LiveId" clId="{15ACFF1F-CB5B-4E09-A464-ACC3BDDF58DC}" dt="2026-07-04T16:17:52.340" v="2432" actId="2711"/>
        <pc:sldMkLst>
          <pc:docMk/>
          <pc:sldMk cId="3898899754" sldId="261"/>
        </pc:sldMkLst>
        <pc:spChg chg="mod">
          <ac:chgData name="Mariam Ajetunmobi" userId="ea1a0dde1fe98e4c" providerId="LiveId" clId="{15ACFF1F-CB5B-4E09-A464-ACC3BDDF58DC}" dt="2026-07-04T16:17:45.013" v="2431" actId="255"/>
          <ac:spMkLst>
            <pc:docMk/>
            <pc:sldMk cId="3898899754" sldId="261"/>
            <ac:spMk id="2" creationId="{87D1725C-FA8E-D841-F404-13FFBDF455DD}"/>
          </ac:spMkLst>
        </pc:spChg>
        <pc:spChg chg="mod">
          <ac:chgData name="Mariam Ajetunmobi" userId="ea1a0dde1fe98e4c" providerId="LiveId" clId="{15ACFF1F-CB5B-4E09-A464-ACC3BDDF58DC}" dt="2026-07-04T16:17:52.340" v="2432" actId="2711"/>
          <ac:spMkLst>
            <pc:docMk/>
            <pc:sldMk cId="3898899754" sldId="261"/>
            <ac:spMk id="3" creationId="{A06A51A5-CF8F-3F82-5346-7A14FB1579DF}"/>
          </ac:spMkLst>
        </pc:spChg>
        <pc:picChg chg="add mod">
          <ac:chgData name="Mariam Ajetunmobi" userId="ea1a0dde1fe98e4c" providerId="LiveId" clId="{15ACFF1F-CB5B-4E09-A464-ACC3BDDF58DC}" dt="2026-07-04T12:58:46.867" v="1425" actId="14100"/>
          <ac:picMkLst>
            <pc:docMk/>
            <pc:sldMk cId="3898899754" sldId="261"/>
            <ac:picMk id="5" creationId="{89DF6283-5B78-E716-FFB1-E745549714A3}"/>
          </ac:picMkLst>
        </pc:picChg>
      </pc:sldChg>
      <pc:sldChg chg="modSp new mod">
        <pc:chgData name="Mariam Ajetunmobi" userId="ea1a0dde1fe98e4c" providerId="LiveId" clId="{15ACFF1F-CB5B-4E09-A464-ACC3BDDF58DC}" dt="2026-07-04T16:19:27.170" v="2440" actId="2711"/>
        <pc:sldMkLst>
          <pc:docMk/>
          <pc:sldMk cId="333507939" sldId="262"/>
        </pc:sldMkLst>
        <pc:spChg chg="mod">
          <ac:chgData name="Mariam Ajetunmobi" userId="ea1a0dde1fe98e4c" providerId="LiveId" clId="{15ACFF1F-CB5B-4E09-A464-ACC3BDDF58DC}" dt="2026-07-04T16:18:42.661" v="2437" actId="14100"/>
          <ac:spMkLst>
            <pc:docMk/>
            <pc:sldMk cId="333507939" sldId="262"/>
            <ac:spMk id="2" creationId="{4C13E43E-F4BC-FC4B-6469-E4F55F327E8B}"/>
          </ac:spMkLst>
        </pc:spChg>
        <pc:spChg chg="mod">
          <ac:chgData name="Mariam Ajetunmobi" userId="ea1a0dde1fe98e4c" providerId="LiveId" clId="{15ACFF1F-CB5B-4E09-A464-ACC3BDDF58DC}" dt="2026-07-04T16:19:27.170" v="2440" actId="2711"/>
          <ac:spMkLst>
            <pc:docMk/>
            <pc:sldMk cId="333507939" sldId="262"/>
            <ac:spMk id="3" creationId="{6C220DF1-B4F5-1507-3E8B-F587F34D8C4C}"/>
          </ac:spMkLst>
        </pc:spChg>
      </pc:sldChg>
      <pc:sldChg chg="new del">
        <pc:chgData name="Mariam Ajetunmobi" userId="ea1a0dde1fe98e4c" providerId="LiveId" clId="{15ACFF1F-CB5B-4E09-A464-ACC3BDDF58DC}" dt="2026-07-04T12:58:55.704" v="1427" actId="47"/>
        <pc:sldMkLst>
          <pc:docMk/>
          <pc:sldMk cId="2167448693" sldId="262"/>
        </pc:sldMkLst>
      </pc:sldChg>
      <pc:sldChg chg="modSp new mod">
        <pc:chgData name="Mariam Ajetunmobi" userId="ea1a0dde1fe98e4c" providerId="LiveId" clId="{15ACFF1F-CB5B-4E09-A464-ACC3BDDF58DC}" dt="2026-07-04T16:20:35.383" v="2447" actId="2711"/>
        <pc:sldMkLst>
          <pc:docMk/>
          <pc:sldMk cId="2041141259" sldId="263"/>
        </pc:sldMkLst>
        <pc:spChg chg="mod">
          <ac:chgData name="Mariam Ajetunmobi" userId="ea1a0dde1fe98e4c" providerId="LiveId" clId="{15ACFF1F-CB5B-4E09-A464-ACC3BDDF58DC}" dt="2026-07-04T16:19:55.939" v="2443" actId="122"/>
          <ac:spMkLst>
            <pc:docMk/>
            <pc:sldMk cId="2041141259" sldId="263"/>
            <ac:spMk id="2" creationId="{354495B7-A901-B9D4-25C6-59697C1C14C0}"/>
          </ac:spMkLst>
        </pc:spChg>
        <pc:spChg chg="mod">
          <ac:chgData name="Mariam Ajetunmobi" userId="ea1a0dde1fe98e4c" providerId="LiveId" clId="{15ACFF1F-CB5B-4E09-A464-ACC3BDDF58DC}" dt="2026-07-04T16:20:35.383" v="2447" actId="2711"/>
          <ac:spMkLst>
            <pc:docMk/>
            <pc:sldMk cId="2041141259" sldId="263"/>
            <ac:spMk id="3" creationId="{8489DE94-5096-957F-91B5-414FD3ED8C1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BD844-1E6F-40F4-83CA-E083C1E6045B}" type="datetimeFigureOut">
              <a:rPr lang="en-US" smtClean="0"/>
              <a:t>7/4/2026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48B9F5-BFE9-48F2-B976-1F6676CEB7F0}" type="slidenum">
              <a:rPr lang="en-US" smtClean="0"/>
              <a:t>‹#›</a:t>
            </a:fld>
            <a:endParaRPr lang="en-US"/>
          </a:p>
        </p:txBody>
      </p:sp>
    </p:spTree>
    <p:extLst>
      <p:ext uri="{BB962C8B-B14F-4D97-AF65-F5344CB8AC3E}">
        <p14:creationId xmlns:p14="http://schemas.microsoft.com/office/powerpoint/2010/main" val="2754665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8B9F5-BFE9-48F2-B976-1F6676CEB7F0}" type="slidenum">
              <a:rPr lang="en-US" smtClean="0"/>
              <a:t>3</a:t>
            </a:fld>
            <a:endParaRPr lang="en-US"/>
          </a:p>
        </p:txBody>
      </p:sp>
    </p:spTree>
    <p:extLst>
      <p:ext uri="{BB962C8B-B14F-4D97-AF65-F5344CB8AC3E}">
        <p14:creationId xmlns:p14="http://schemas.microsoft.com/office/powerpoint/2010/main" val="1274649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28424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070A7B3-6521-4DCA-87E5-044747A908C1}"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839430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21683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68512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7040512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1037C31-9E7A-4F99-8774-A0E530DE1A42}" type="datetimeFigureOut">
              <a:rPr lang="en-US" smtClean="0"/>
              <a:t>7/4/2026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14870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278504F-A551-4DE0-9316-4DCD1D8CC752}" type="datetimeFigureOut">
              <a:rPr lang="en-US" smtClean="0"/>
              <a:t>7/4/2026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155679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1BE4249-C0D0-4B06-8692-E8BB871AF643}" type="datetimeFigureOut">
              <a:rPr lang="en-US" smtClean="0"/>
              <a:t>7/4/2026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09918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839719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2424745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9495289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2918790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9454927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3643118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160EA64-D806-43AC-9DF2-F8C432F32B4C}" type="datetimeFigureOut">
              <a:rPr lang="en-US" smtClean="0"/>
              <a:t>7/4/2026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09579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0046253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7/4/2026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26095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160EA64-D806-43AC-9DF2-F8C432F32B4C}" type="datetimeFigureOut">
              <a:rPr lang="en-US" smtClean="0"/>
              <a:t>7/4/2026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08593731"/>
      </p:ext>
    </p:extLst>
  </p:cSld>
  <p:clrMap bg1="dk1" tx1="lt1" bg2="dk2" tx2="lt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C22">
            <a:alpha val="9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D86CE-9236-B940-5D8F-8F67E633F26B}"/>
              </a:ext>
            </a:extLst>
          </p:cNvPr>
          <p:cNvSpPr>
            <a:spLocks noGrp="1"/>
          </p:cNvSpPr>
          <p:nvPr>
            <p:ph type="ctrTitle"/>
          </p:nvPr>
        </p:nvSpPr>
        <p:spPr>
          <a:xfrm>
            <a:off x="925974" y="1030145"/>
            <a:ext cx="10995949" cy="1405211"/>
          </a:xfrm>
        </p:spPr>
        <p:txBody>
          <a:bodyPr>
            <a:normAutofit/>
          </a:bodyPr>
          <a:lstStyle/>
          <a:p>
            <a:r>
              <a:rPr lang="en-GB" sz="6000" dirty="0">
                <a:latin typeface="Bookman Old Style" panose="02050604050505020204" pitchFamily="18" charset="0"/>
              </a:rPr>
              <a:t>Telecom customer churn</a:t>
            </a:r>
            <a:endParaRPr lang="en-US" sz="6000" dirty="0">
              <a:latin typeface="Bookman Old Style" panose="02050604050505020204" pitchFamily="18" charset="0"/>
            </a:endParaRPr>
          </a:p>
        </p:txBody>
      </p:sp>
      <p:sp>
        <p:nvSpPr>
          <p:cNvPr id="3" name="Subtitle 2">
            <a:extLst>
              <a:ext uri="{FF2B5EF4-FFF2-40B4-BE49-F238E27FC236}">
                <a16:creationId xmlns:a16="http://schemas.microsoft.com/office/drawing/2014/main" id="{C7F86063-632F-62C2-93F0-F5E0991FFED9}"/>
              </a:ext>
            </a:extLst>
          </p:cNvPr>
          <p:cNvSpPr>
            <a:spLocks noGrp="1"/>
          </p:cNvSpPr>
          <p:nvPr>
            <p:ph type="subTitle" idx="1"/>
          </p:nvPr>
        </p:nvSpPr>
        <p:spPr>
          <a:xfrm>
            <a:off x="2856487" y="2916820"/>
            <a:ext cx="6640319" cy="833377"/>
          </a:xfrm>
        </p:spPr>
        <p:txBody>
          <a:bodyPr>
            <a:normAutofit/>
          </a:bodyPr>
          <a:lstStyle/>
          <a:p>
            <a:r>
              <a:rPr lang="en-GB" sz="2400" cap="all" dirty="0">
                <a:latin typeface="Bookman Old Style" panose="02050604050505020204" pitchFamily="18" charset="0"/>
              </a:rPr>
              <a:t>Business analytics case study</a:t>
            </a:r>
            <a:endParaRPr lang="en-US" sz="2400" cap="all" dirty="0">
              <a:latin typeface="Bookman Old Style" panose="02050604050505020204" pitchFamily="18" charset="0"/>
            </a:endParaRPr>
          </a:p>
        </p:txBody>
      </p:sp>
      <p:sp>
        <p:nvSpPr>
          <p:cNvPr id="4" name="Subtitle 2">
            <a:extLst>
              <a:ext uri="{FF2B5EF4-FFF2-40B4-BE49-F238E27FC236}">
                <a16:creationId xmlns:a16="http://schemas.microsoft.com/office/drawing/2014/main" id="{9A1BD72D-047F-9289-B986-41926CB49FF4}"/>
              </a:ext>
            </a:extLst>
          </p:cNvPr>
          <p:cNvSpPr txBox="1">
            <a:spLocks/>
          </p:cNvSpPr>
          <p:nvPr/>
        </p:nvSpPr>
        <p:spPr>
          <a:xfrm>
            <a:off x="2428223" y="3691099"/>
            <a:ext cx="6640319" cy="733880"/>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r>
              <a:rPr lang="en-GB" dirty="0">
                <a:latin typeface="Bookman Old Style" panose="02050604050505020204" pitchFamily="18" charset="0"/>
              </a:rPr>
              <a:t>AJETUNMOBI MARIAM</a:t>
            </a:r>
            <a:endParaRPr lang="en-US" dirty="0">
              <a:latin typeface="Bookman Old Style" panose="02050604050505020204" pitchFamily="18" charset="0"/>
            </a:endParaRPr>
          </a:p>
        </p:txBody>
      </p:sp>
    </p:spTree>
    <p:extLst>
      <p:ext uri="{BB962C8B-B14F-4D97-AF65-F5344CB8AC3E}">
        <p14:creationId xmlns:p14="http://schemas.microsoft.com/office/powerpoint/2010/main" val="1851539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5F71-7F34-9487-E3AE-B37E43202456}"/>
              </a:ext>
            </a:extLst>
          </p:cNvPr>
          <p:cNvSpPr>
            <a:spLocks noGrp="1"/>
          </p:cNvSpPr>
          <p:nvPr>
            <p:ph type="title"/>
          </p:nvPr>
        </p:nvSpPr>
        <p:spPr>
          <a:xfrm>
            <a:off x="788429" y="405114"/>
            <a:ext cx="10809404" cy="1030147"/>
          </a:xfrm>
        </p:spPr>
        <p:txBody>
          <a:bodyPr/>
          <a:lstStyle/>
          <a:p>
            <a:pPr algn="ctr"/>
            <a:r>
              <a:rPr lang="en-GB" sz="4000" dirty="0">
                <a:latin typeface="Bookman Old Style" panose="02050604050505020204" pitchFamily="18" charset="0"/>
              </a:rPr>
              <a:t>BUSINESS PROBLEM STATEMENT</a:t>
            </a:r>
            <a:endParaRPr lang="en-US" sz="40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D450AB7E-6968-5CDA-8EF3-010A5DCE9AC6}"/>
              </a:ext>
            </a:extLst>
          </p:cNvPr>
          <p:cNvSpPr>
            <a:spLocks noGrp="1"/>
          </p:cNvSpPr>
          <p:nvPr>
            <p:ph idx="1"/>
          </p:nvPr>
        </p:nvSpPr>
        <p:spPr>
          <a:xfrm>
            <a:off x="788429" y="1527859"/>
            <a:ext cx="11214518" cy="5046561"/>
          </a:xfrm>
        </p:spPr>
        <p:txBody>
          <a:bodyPr>
            <a:normAutofit/>
          </a:bodyPr>
          <a:lstStyle/>
          <a:p>
            <a:pPr marL="0" indent="0">
              <a:buNone/>
            </a:pPr>
            <a:r>
              <a:rPr lang="en-GB" dirty="0">
                <a:latin typeface="Bookman Old Style" panose="02050604050505020204" pitchFamily="18" charset="0"/>
              </a:rPr>
              <a:t>Customer churn poses a significant challenge to telecommunications companies because it leads to lost revenue, increased customer acquisition costs, and reduced profitability. Analysis of the dataset revealed an overall churn rate of 26.54% ,highlighting the need to understand why customer leaves and identify the factors influencing churn.</a:t>
            </a:r>
          </a:p>
          <a:p>
            <a:pPr marL="0" indent="0">
              <a:buNone/>
            </a:pPr>
            <a:endParaRPr lang="en-GB" dirty="0">
              <a:latin typeface="Bookman Old Style" panose="02050604050505020204" pitchFamily="18" charset="0"/>
            </a:endParaRPr>
          </a:p>
          <a:p>
            <a:pPr marL="0" indent="0">
              <a:buNone/>
            </a:pPr>
            <a:r>
              <a:rPr lang="en-GB" dirty="0">
                <a:latin typeface="Bookman Old Style" panose="02050604050505020204" pitchFamily="18" charset="0"/>
              </a:rPr>
              <a:t>Key questions:</a:t>
            </a:r>
          </a:p>
          <a:p>
            <a:pPr>
              <a:buFont typeface="Wingdings" panose="05000000000000000000" pitchFamily="2" charset="2"/>
              <a:buChar char="ü"/>
            </a:pPr>
            <a:r>
              <a:rPr lang="en-GB" dirty="0">
                <a:latin typeface="Bookman Old Style" panose="02050604050505020204" pitchFamily="18" charset="0"/>
              </a:rPr>
              <a:t>Why are customers leaving the company?</a:t>
            </a:r>
          </a:p>
          <a:p>
            <a:pPr>
              <a:buFont typeface="Wingdings" panose="05000000000000000000" pitchFamily="2" charset="2"/>
              <a:buChar char="ü"/>
            </a:pPr>
            <a:r>
              <a:rPr lang="en-GB" dirty="0">
                <a:latin typeface="Bookman Old Style" panose="02050604050505020204" pitchFamily="18" charset="0"/>
              </a:rPr>
              <a:t>Which customer segments have the highest churn rates?</a:t>
            </a:r>
          </a:p>
          <a:p>
            <a:pPr>
              <a:buFont typeface="Wingdings" panose="05000000000000000000" pitchFamily="2" charset="2"/>
              <a:buChar char="ü"/>
            </a:pPr>
            <a:r>
              <a:rPr lang="en-GB" dirty="0">
                <a:latin typeface="Bookman Old Style" panose="02050604050505020204" pitchFamily="18" charset="0"/>
              </a:rPr>
              <a:t>What factors are most strongly associated with customer churn?</a:t>
            </a:r>
          </a:p>
          <a:p>
            <a:pPr>
              <a:buFont typeface="Wingdings" panose="05000000000000000000" pitchFamily="2" charset="2"/>
              <a:buChar char="ü"/>
            </a:pPr>
            <a:r>
              <a:rPr lang="en-GB" dirty="0">
                <a:latin typeface="Bookman Old Style" panose="02050604050505020204" pitchFamily="18" charset="0"/>
              </a:rPr>
              <a:t>Which combination of internet service, tenure, and payment method are associated with highest churn rate?</a:t>
            </a:r>
          </a:p>
          <a:p>
            <a:pPr>
              <a:buFont typeface="Wingdings" panose="05000000000000000000" pitchFamily="2" charset="2"/>
              <a:buChar char="ü"/>
            </a:pPr>
            <a:r>
              <a:rPr lang="en-GB" dirty="0">
                <a:latin typeface="Bookman Old Style" panose="02050604050505020204" pitchFamily="18" charset="0"/>
              </a:rPr>
              <a:t>What actions can the company take to improve customer retention?</a:t>
            </a:r>
          </a:p>
          <a:p>
            <a:pPr>
              <a:buFont typeface="Wingdings" panose="05000000000000000000" pitchFamily="2" charset="2"/>
              <a:buChar char="ü"/>
            </a:pPr>
            <a:endParaRPr lang="en-GB" dirty="0">
              <a:latin typeface="Bookman Old Style" panose="02050604050505020204" pitchFamily="18" charset="0"/>
            </a:endParaRPr>
          </a:p>
          <a:p>
            <a:pPr>
              <a:buFont typeface="Wingdings" panose="05000000000000000000" pitchFamily="2" charset="2"/>
              <a:buChar char="v"/>
            </a:pPr>
            <a:endParaRPr lang="en-GB" dirty="0">
              <a:latin typeface="Bookman Old Style" panose="02050604050505020204" pitchFamily="18" charset="0"/>
            </a:endParaRPr>
          </a:p>
          <a:p>
            <a:pPr>
              <a:buFont typeface="Wingdings" panose="05000000000000000000" pitchFamily="2" charset="2"/>
              <a:buChar char="v"/>
            </a:pPr>
            <a:endParaRPr lang="en-US" dirty="0"/>
          </a:p>
        </p:txBody>
      </p:sp>
    </p:spTree>
    <p:extLst>
      <p:ext uri="{BB962C8B-B14F-4D97-AF65-F5344CB8AC3E}">
        <p14:creationId xmlns:p14="http://schemas.microsoft.com/office/powerpoint/2010/main" val="2123602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55F3E-7AE7-954E-F139-2B5D1370517A}"/>
              </a:ext>
            </a:extLst>
          </p:cNvPr>
          <p:cNvSpPr>
            <a:spLocks noGrp="1"/>
          </p:cNvSpPr>
          <p:nvPr>
            <p:ph type="title"/>
          </p:nvPr>
        </p:nvSpPr>
        <p:spPr>
          <a:xfrm>
            <a:off x="729205" y="266218"/>
            <a:ext cx="10706582" cy="851755"/>
          </a:xfrm>
        </p:spPr>
        <p:txBody>
          <a:bodyPr/>
          <a:lstStyle/>
          <a:p>
            <a:pPr algn="ctr"/>
            <a:r>
              <a:rPr lang="en-GB" sz="4000" dirty="0">
                <a:latin typeface="Bookman Old Style" panose="02050604050505020204" pitchFamily="18" charset="0"/>
              </a:rPr>
              <a:t>DATASET OVERVIEW</a:t>
            </a:r>
            <a:endParaRPr lang="en-US" sz="40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71EACDBB-DEA7-4880-8862-93B7427389DE}"/>
              </a:ext>
            </a:extLst>
          </p:cNvPr>
          <p:cNvSpPr>
            <a:spLocks noGrp="1"/>
          </p:cNvSpPr>
          <p:nvPr>
            <p:ph idx="1"/>
          </p:nvPr>
        </p:nvSpPr>
        <p:spPr>
          <a:xfrm>
            <a:off x="729204" y="1377387"/>
            <a:ext cx="8206451" cy="5214395"/>
          </a:xfrm>
        </p:spPr>
        <p:txBody>
          <a:bodyPr>
            <a:normAutofit fontScale="25000" lnSpcReduction="20000"/>
          </a:bodyPr>
          <a:lstStyle/>
          <a:p>
            <a:r>
              <a:rPr lang="en-GB" sz="8000" dirty="0">
                <a:latin typeface="Bookman Old Style" panose="02050604050505020204" pitchFamily="18" charset="0"/>
              </a:rPr>
              <a:t>The dataset contains information about customers of a telecommunications company and was used to analyse customer behaviour, identify churn patterns, and uncover factors influencing customer retention.</a:t>
            </a:r>
          </a:p>
          <a:p>
            <a:pPr marL="0" indent="0">
              <a:buNone/>
            </a:pPr>
            <a:r>
              <a:rPr lang="en-GB" sz="8000" dirty="0">
                <a:latin typeface="Bookman Old Style" panose="02050604050505020204" pitchFamily="18" charset="0"/>
              </a:rPr>
              <a:t>Key data categories:</a:t>
            </a:r>
          </a:p>
          <a:p>
            <a:r>
              <a:rPr lang="en-GB" sz="8000" u="sng" dirty="0">
                <a:latin typeface="Bookman Old Style" panose="02050604050505020204" pitchFamily="18" charset="0"/>
              </a:rPr>
              <a:t>Customer Demographics</a:t>
            </a:r>
            <a:r>
              <a:rPr lang="en-GB" sz="8000" dirty="0">
                <a:latin typeface="Bookman Old Style" panose="02050604050505020204" pitchFamily="18" charset="0"/>
              </a:rPr>
              <a:t>: gender, senior citizen, partner, Dependents</a:t>
            </a:r>
          </a:p>
          <a:p>
            <a:r>
              <a:rPr lang="en-GB" sz="8000" u="sng" dirty="0">
                <a:latin typeface="Bookman Old Style" panose="02050604050505020204" pitchFamily="18" charset="0"/>
              </a:rPr>
              <a:t>Customer account information: </a:t>
            </a:r>
            <a:r>
              <a:rPr lang="en-GB" sz="8000" dirty="0">
                <a:latin typeface="Bookman Old Style" panose="02050604050505020204" pitchFamily="18" charset="0"/>
              </a:rPr>
              <a:t>tenure, contract, paperless billing, payment method</a:t>
            </a:r>
          </a:p>
          <a:p>
            <a:r>
              <a:rPr lang="en-GB" sz="8000" u="sng" dirty="0">
                <a:latin typeface="Bookman Old Style" panose="02050604050505020204" pitchFamily="18" charset="0"/>
              </a:rPr>
              <a:t>Services subscribed</a:t>
            </a:r>
            <a:r>
              <a:rPr lang="en-GB" sz="8000" dirty="0">
                <a:latin typeface="Bookman Old Style" panose="02050604050505020204" pitchFamily="18" charset="0"/>
              </a:rPr>
              <a:t>: Phone services, multiple lines, internet services, online security, online backup, device protection, tech support, streaming TV, streaming movies</a:t>
            </a:r>
          </a:p>
          <a:p>
            <a:r>
              <a:rPr lang="en-GB" sz="8000" u="sng" dirty="0">
                <a:latin typeface="Bookman Old Style" panose="02050604050505020204" pitchFamily="18" charset="0"/>
              </a:rPr>
              <a:t>Billing and revenue information </a:t>
            </a:r>
            <a:r>
              <a:rPr lang="en-GB" sz="8000" dirty="0">
                <a:latin typeface="Bookman Old Style" panose="02050604050505020204" pitchFamily="18" charset="0"/>
              </a:rPr>
              <a:t>:monthly charges, total charges</a:t>
            </a:r>
          </a:p>
          <a:p>
            <a:r>
              <a:rPr lang="en-GB" sz="8000" u="sng" dirty="0">
                <a:latin typeface="Bookman Old Style" panose="02050604050505020204" pitchFamily="18" charset="0"/>
              </a:rPr>
              <a:t>Customer identifier</a:t>
            </a:r>
            <a:r>
              <a:rPr lang="en-GB" sz="8000" dirty="0">
                <a:latin typeface="Bookman Old Style" panose="02050604050505020204" pitchFamily="18" charset="0"/>
              </a:rPr>
              <a:t>: customer id</a:t>
            </a:r>
          </a:p>
          <a:p>
            <a:r>
              <a:rPr lang="en-GB" sz="8000" u="sng" dirty="0">
                <a:latin typeface="Bookman Old Style" panose="02050604050505020204" pitchFamily="18" charset="0"/>
              </a:rPr>
              <a:t>Target variable</a:t>
            </a:r>
            <a:r>
              <a:rPr lang="en-GB" sz="8000" dirty="0">
                <a:latin typeface="Bookman Old Style" panose="02050604050505020204" pitchFamily="18" charset="0"/>
              </a:rPr>
              <a:t>: Churn</a:t>
            </a:r>
          </a:p>
          <a:p>
            <a:endParaRPr lang="en-US" dirty="0"/>
          </a:p>
        </p:txBody>
      </p:sp>
      <p:graphicFrame>
        <p:nvGraphicFramePr>
          <p:cNvPr id="4" name="Table 3">
            <a:extLst>
              <a:ext uri="{FF2B5EF4-FFF2-40B4-BE49-F238E27FC236}">
                <a16:creationId xmlns:a16="http://schemas.microsoft.com/office/drawing/2014/main" id="{F5817F21-6B65-C752-142A-79F8E1A03409}"/>
              </a:ext>
            </a:extLst>
          </p:cNvPr>
          <p:cNvGraphicFramePr>
            <a:graphicFrameLocks noGrp="1"/>
          </p:cNvGraphicFramePr>
          <p:nvPr>
            <p:extLst>
              <p:ext uri="{D42A27DB-BD31-4B8C-83A1-F6EECF244321}">
                <p14:modId xmlns:p14="http://schemas.microsoft.com/office/powerpoint/2010/main" val="1381871633"/>
              </p:ext>
            </p:extLst>
          </p:nvPr>
        </p:nvGraphicFramePr>
        <p:xfrm>
          <a:off x="9306045" y="1377387"/>
          <a:ext cx="2801074" cy="5034988"/>
        </p:xfrm>
        <a:graphic>
          <a:graphicData uri="http://schemas.openxmlformats.org/drawingml/2006/table">
            <a:tbl>
              <a:tblPr firstRow="1" bandRow="1">
                <a:tableStyleId>{ED083AE6-46FA-4A59-8FB0-9F97EB10719F}</a:tableStyleId>
              </a:tblPr>
              <a:tblGrid>
                <a:gridCol w="1400537">
                  <a:extLst>
                    <a:ext uri="{9D8B030D-6E8A-4147-A177-3AD203B41FA5}">
                      <a16:colId xmlns:a16="http://schemas.microsoft.com/office/drawing/2014/main" val="4144521309"/>
                    </a:ext>
                  </a:extLst>
                </a:gridCol>
                <a:gridCol w="1400537">
                  <a:extLst>
                    <a:ext uri="{9D8B030D-6E8A-4147-A177-3AD203B41FA5}">
                      <a16:colId xmlns:a16="http://schemas.microsoft.com/office/drawing/2014/main" val="1480028287"/>
                    </a:ext>
                  </a:extLst>
                </a:gridCol>
              </a:tblGrid>
              <a:tr h="1019538">
                <a:tc>
                  <a:txBody>
                    <a:bodyPr/>
                    <a:lstStyle/>
                    <a:p>
                      <a:r>
                        <a:rPr lang="en-GB" sz="2000" dirty="0">
                          <a:latin typeface="Bookman Old Style" panose="02050604050505020204" pitchFamily="18" charset="0"/>
                        </a:rPr>
                        <a:t>Number of rows</a:t>
                      </a:r>
                      <a:endParaRPr lang="en-US" sz="2000" dirty="0">
                        <a:latin typeface="Bookman Old Style" panose="02050604050505020204" pitchFamily="18" charset="0"/>
                      </a:endParaRPr>
                    </a:p>
                  </a:txBody>
                  <a:tcPr/>
                </a:tc>
                <a:tc>
                  <a:txBody>
                    <a:bodyPr/>
                    <a:lstStyle/>
                    <a:p>
                      <a:r>
                        <a:rPr lang="en-GB" sz="2000" dirty="0">
                          <a:latin typeface="Bookman Old Style" panose="02050604050505020204" pitchFamily="18" charset="0"/>
                        </a:rPr>
                        <a:t>7,043</a:t>
                      </a:r>
                      <a:endParaRPr lang="en-US" sz="2000" dirty="0">
                        <a:latin typeface="Bookman Old Style" panose="02050604050505020204" pitchFamily="18" charset="0"/>
                      </a:endParaRPr>
                    </a:p>
                  </a:txBody>
                  <a:tcPr/>
                </a:tc>
                <a:extLst>
                  <a:ext uri="{0D108BD9-81ED-4DB2-BD59-A6C34878D82A}">
                    <a16:rowId xmlns:a16="http://schemas.microsoft.com/office/drawing/2014/main" val="2055485229"/>
                  </a:ext>
                </a:extLst>
              </a:tr>
              <a:tr h="1019538">
                <a:tc>
                  <a:txBody>
                    <a:bodyPr/>
                    <a:lstStyle/>
                    <a:p>
                      <a:r>
                        <a:rPr lang="en-GB" sz="2000" dirty="0">
                          <a:latin typeface="Bookman Old Style" panose="02050604050505020204" pitchFamily="18" charset="0"/>
                        </a:rPr>
                        <a:t>Number of columns</a:t>
                      </a:r>
                      <a:endParaRPr lang="en-US" sz="2000" dirty="0">
                        <a:latin typeface="Bookman Old Style" panose="02050604050505020204" pitchFamily="18" charset="0"/>
                      </a:endParaRPr>
                    </a:p>
                  </a:txBody>
                  <a:tcPr/>
                </a:tc>
                <a:tc>
                  <a:txBody>
                    <a:bodyPr/>
                    <a:lstStyle/>
                    <a:p>
                      <a:r>
                        <a:rPr lang="en-GB" sz="2000" dirty="0">
                          <a:latin typeface="Bookman Old Style" panose="02050604050505020204" pitchFamily="18" charset="0"/>
                        </a:rPr>
                        <a:t>21</a:t>
                      </a:r>
                      <a:endParaRPr lang="en-US" sz="2000" dirty="0">
                        <a:latin typeface="Bookman Old Style" panose="02050604050505020204" pitchFamily="18" charset="0"/>
                      </a:endParaRPr>
                    </a:p>
                  </a:txBody>
                  <a:tcPr/>
                </a:tc>
                <a:extLst>
                  <a:ext uri="{0D108BD9-81ED-4DB2-BD59-A6C34878D82A}">
                    <a16:rowId xmlns:a16="http://schemas.microsoft.com/office/drawing/2014/main" val="720600121"/>
                  </a:ext>
                </a:extLst>
              </a:tr>
              <a:tr h="988187">
                <a:tc>
                  <a:txBody>
                    <a:bodyPr/>
                    <a:lstStyle/>
                    <a:p>
                      <a:r>
                        <a:rPr lang="en-GB" sz="2000" dirty="0">
                          <a:latin typeface="Bookman Old Style" panose="02050604050505020204" pitchFamily="18" charset="0"/>
                        </a:rPr>
                        <a:t>Churn rate</a:t>
                      </a:r>
                      <a:endParaRPr lang="en-US" sz="2000" dirty="0">
                        <a:latin typeface="Bookman Old Style" panose="02050604050505020204" pitchFamily="18" charset="0"/>
                      </a:endParaRPr>
                    </a:p>
                  </a:txBody>
                  <a:tcPr/>
                </a:tc>
                <a:tc>
                  <a:txBody>
                    <a:bodyPr/>
                    <a:lstStyle/>
                    <a:p>
                      <a:r>
                        <a:rPr lang="en-GB" sz="2000" dirty="0">
                          <a:latin typeface="Bookman Old Style" panose="02050604050505020204" pitchFamily="18" charset="0"/>
                        </a:rPr>
                        <a:t>26.54%</a:t>
                      </a:r>
                      <a:endParaRPr lang="en-US" sz="2000" dirty="0">
                        <a:latin typeface="Bookman Old Style" panose="02050604050505020204" pitchFamily="18" charset="0"/>
                      </a:endParaRPr>
                    </a:p>
                  </a:txBody>
                  <a:tcPr/>
                </a:tc>
                <a:extLst>
                  <a:ext uri="{0D108BD9-81ED-4DB2-BD59-A6C34878D82A}">
                    <a16:rowId xmlns:a16="http://schemas.microsoft.com/office/drawing/2014/main" val="871073435"/>
                  </a:ext>
                </a:extLst>
              </a:tr>
              <a:tr h="1019538">
                <a:tc>
                  <a:txBody>
                    <a:bodyPr/>
                    <a:lstStyle/>
                    <a:p>
                      <a:r>
                        <a:rPr lang="en-GB" sz="2000" dirty="0">
                          <a:latin typeface="Bookman Old Style" panose="02050604050505020204" pitchFamily="18" charset="0"/>
                        </a:rPr>
                        <a:t>Churned </a:t>
                      </a:r>
                      <a:endParaRPr lang="en-US" sz="2000" dirty="0">
                        <a:latin typeface="Bookman Old Style" panose="02050604050505020204" pitchFamily="18" charset="0"/>
                      </a:endParaRPr>
                    </a:p>
                  </a:txBody>
                  <a:tcPr/>
                </a:tc>
                <a:tc>
                  <a:txBody>
                    <a:bodyPr/>
                    <a:lstStyle/>
                    <a:p>
                      <a:r>
                        <a:rPr lang="en-GB" sz="2000" dirty="0">
                          <a:latin typeface="Bookman Old Style" panose="02050604050505020204" pitchFamily="18" charset="0"/>
                        </a:rPr>
                        <a:t>1,869</a:t>
                      </a:r>
                    </a:p>
                    <a:p>
                      <a:endParaRPr lang="en-US" sz="2000" dirty="0">
                        <a:latin typeface="Bookman Old Style" panose="02050604050505020204" pitchFamily="18" charset="0"/>
                      </a:endParaRPr>
                    </a:p>
                  </a:txBody>
                  <a:tcPr/>
                </a:tc>
                <a:extLst>
                  <a:ext uri="{0D108BD9-81ED-4DB2-BD59-A6C34878D82A}">
                    <a16:rowId xmlns:a16="http://schemas.microsoft.com/office/drawing/2014/main" val="2063203279"/>
                  </a:ext>
                </a:extLst>
              </a:tr>
              <a:tr h="988187">
                <a:tc>
                  <a:txBody>
                    <a:bodyPr/>
                    <a:lstStyle/>
                    <a:p>
                      <a:r>
                        <a:rPr lang="en-GB" sz="2000" dirty="0">
                          <a:latin typeface="Bookman Old Style" panose="02050604050505020204" pitchFamily="18" charset="0"/>
                        </a:rPr>
                        <a:t>Retained </a:t>
                      </a:r>
                      <a:endParaRPr lang="en-US" sz="2000" dirty="0">
                        <a:latin typeface="Bookman Old Style" panose="02050604050505020204" pitchFamily="18" charset="0"/>
                      </a:endParaRPr>
                    </a:p>
                  </a:txBody>
                  <a:tcPr/>
                </a:tc>
                <a:tc>
                  <a:txBody>
                    <a:bodyPr/>
                    <a:lstStyle/>
                    <a:p>
                      <a:r>
                        <a:rPr lang="en-GB" sz="2000" dirty="0">
                          <a:latin typeface="Bookman Old Style" panose="02050604050505020204" pitchFamily="18" charset="0"/>
                        </a:rPr>
                        <a:t>5,174</a:t>
                      </a:r>
                      <a:endParaRPr lang="en-US" sz="2000" dirty="0">
                        <a:latin typeface="Bookman Old Style" panose="02050604050505020204" pitchFamily="18" charset="0"/>
                      </a:endParaRPr>
                    </a:p>
                  </a:txBody>
                  <a:tcPr/>
                </a:tc>
                <a:extLst>
                  <a:ext uri="{0D108BD9-81ED-4DB2-BD59-A6C34878D82A}">
                    <a16:rowId xmlns:a16="http://schemas.microsoft.com/office/drawing/2014/main" val="1620517540"/>
                  </a:ext>
                </a:extLst>
              </a:tr>
            </a:tbl>
          </a:graphicData>
        </a:graphic>
      </p:graphicFrame>
    </p:spTree>
    <p:extLst>
      <p:ext uri="{BB962C8B-B14F-4D97-AF65-F5344CB8AC3E}">
        <p14:creationId xmlns:p14="http://schemas.microsoft.com/office/powerpoint/2010/main" val="427247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982D-C31E-ECE8-4BC5-D2AF3CDDB4F7}"/>
              </a:ext>
            </a:extLst>
          </p:cNvPr>
          <p:cNvSpPr>
            <a:spLocks noGrp="1"/>
          </p:cNvSpPr>
          <p:nvPr>
            <p:ph type="title"/>
          </p:nvPr>
        </p:nvSpPr>
        <p:spPr>
          <a:xfrm>
            <a:off x="748496" y="868740"/>
            <a:ext cx="10695008" cy="774865"/>
          </a:xfrm>
        </p:spPr>
        <p:txBody>
          <a:bodyPr/>
          <a:lstStyle/>
          <a:p>
            <a:pPr algn="ctr"/>
            <a:r>
              <a:rPr lang="en-GB" sz="4000" dirty="0">
                <a:latin typeface="Bookman Old Style" panose="02050604050505020204" pitchFamily="18" charset="0"/>
              </a:rPr>
              <a:t>CONTRACT TYPE &amp; TENURE</a:t>
            </a:r>
            <a:endParaRPr lang="en-US" sz="4000" dirty="0">
              <a:latin typeface="Bookman Old Style" panose="02050604050505020204" pitchFamily="18" charset="0"/>
            </a:endParaRPr>
          </a:p>
        </p:txBody>
      </p:sp>
      <p:sp>
        <p:nvSpPr>
          <p:cNvPr id="17" name="Content Placeholder 16">
            <a:extLst>
              <a:ext uri="{FF2B5EF4-FFF2-40B4-BE49-F238E27FC236}">
                <a16:creationId xmlns:a16="http://schemas.microsoft.com/office/drawing/2014/main" id="{6811ABF8-6ED5-B961-D116-98E527B06353}"/>
              </a:ext>
            </a:extLst>
          </p:cNvPr>
          <p:cNvSpPr>
            <a:spLocks noGrp="1"/>
          </p:cNvSpPr>
          <p:nvPr>
            <p:ph idx="1"/>
          </p:nvPr>
        </p:nvSpPr>
        <p:spPr>
          <a:xfrm>
            <a:off x="682906" y="1851949"/>
            <a:ext cx="6829064" cy="4657906"/>
          </a:xfrm>
        </p:spPr>
        <p:txBody>
          <a:bodyPr>
            <a:normAutofit lnSpcReduction="10000"/>
          </a:bodyPr>
          <a:lstStyle/>
          <a:p>
            <a:pPr marL="0" indent="0">
              <a:buNone/>
            </a:pPr>
            <a:r>
              <a:rPr lang="en-GB" u="sng" dirty="0"/>
              <a:t>Contract type and churn</a:t>
            </a:r>
          </a:p>
          <a:p>
            <a:pPr marL="0" indent="0">
              <a:buNone/>
            </a:pPr>
            <a:r>
              <a:rPr lang="en-GB" dirty="0"/>
              <a:t>Key findings:</a:t>
            </a:r>
          </a:p>
          <a:p>
            <a:pPr marL="0" indent="0">
              <a:buNone/>
            </a:pPr>
            <a:r>
              <a:rPr lang="en-GB" dirty="0"/>
              <a:t>Month-to-month customers had the highest churn rate, indicating that customers with shorter contract commitments are more likely to leave the company</a:t>
            </a:r>
          </a:p>
          <a:p>
            <a:pPr marL="0" indent="0">
              <a:buNone/>
            </a:pPr>
            <a:endParaRPr lang="en-GB" dirty="0"/>
          </a:p>
          <a:p>
            <a:pPr marL="0" indent="0">
              <a:buNone/>
            </a:pPr>
            <a:r>
              <a:rPr lang="en-GB" u="sng" dirty="0"/>
              <a:t>Tenure and churn</a:t>
            </a:r>
          </a:p>
          <a:p>
            <a:pPr marL="0" indent="0">
              <a:buNone/>
            </a:pPr>
            <a:r>
              <a:rPr lang="en-GB" dirty="0"/>
              <a:t>Key findings:</a:t>
            </a:r>
          </a:p>
          <a:p>
            <a:pPr marL="0" indent="0">
              <a:buNone/>
            </a:pPr>
            <a:r>
              <a:rPr lang="en-GB" dirty="0"/>
              <a:t>Churned customers had an average of 17.98 months compared to 37.57 months for retained customers, indicating that customers are more likely to leave during early stages of their relationship with the company</a:t>
            </a:r>
          </a:p>
          <a:p>
            <a:pPr marL="0" indent="0">
              <a:buNone/>
            </a:pPr>
            <a:endParaRPr lang="en-GB" dirty="0"/>
          </a:p>
          <a:p>
            <a:pPr marL="0" indent="0">
              <a:buNone/>
            </a:pPr>
            <a:endParaRPr lang="en-GB" dirty="0"/>
          </a:p>
          <a:p>
            <a:pPr marL="0" indent="0">
              <a:buNone/>
            </a:pPr>
            <a:endParaRPr lang="en-US" dirty="0"/>
          </a:p>
        </p:txBody>
      </p:sp>
      <p:pic>
        <p:nvPicPr>
          <p:cNvPr id="19" name="Picture 18">
            <a:extLst>
              <a:ext uri="{FF2B5EF4-FFF2-40B4-BE49-F238E27FC236}">
                <a16:creationId xmlns:a16="http://schemas.microsoft.com/office/drawing/2014/main" id="{3FA7C47C-DD54-0694-DA74-CCC5E49B47CF}"/>
              </a:ext>
            </a:extLst>
          </p:cNvPr>
          <p:cNvPicPr>
            <a:picLocks noChangeAspect="1"/>
          </p:cNvPicPr>
          <p:nvPr/>
        </p:nvPicPr>
        <p:blipFill>
          <a:blip r:embed="rId2"/>
          <a:stretch>
            <a:fillRect/>
          </a:stretch>
        </p:blipFill>
        <p:spPr>
          <a:xfrm>
            <a:off x="7757087" y="1851949"/>
            <a:ext cx="3067050" cy="2187616"/>
          </a:xfrm>
          <a:prstGeom prst="rect">
            <a:avLst/>
          </a:prstGeom>
        </p:spPr>
      </p:pic>
      <p:pic>
        <p:nvPicPr>
          <p:cNvPr id="21" name="Picture 20">
            <a:extLst>
              <a:ext uri="{FF2B5EF4-FFF2-40B4-BE49-F238E27FC236}">
                <a16:creationId xmlns:a16="http://schemas.microsoft.com/office/drawing/2014/main" id="{01DBEB39-C761-5DAB-3A83-BBE0C52D40B5}"/>
              </a:ext>
            </a:extLst>
          </p:cNvPr>
          <p:cNvPicPr>
            <a:picLocks noChangeAspect="1"/>
          </p:cNvPicPr>
          <p:nvPr/>
        </p:nvPicPr>
        <p:blipFill>
          <a:blip r:embed="rId3"/>
          <a:stretch>
            <a:fillRect/>
          </a:stretch>
        </p:blipFill>
        <p:spPr>
          <a:xfrm>
            <a:off x="7757087" y="4247910"/>
            <a:ext cx="2972645" cy="2261945"/>
          </a:xfrm>
          <a:prstGeom prst="rect">
            <a:avLst/>
          </a:prstGeom>
        </p:spPr>
      </p:pic>
    </p:spTree>
    <p:extLst>
      <p:ext uri="{BB962C8B-B14F-4D97-AF65-F5344CB8AC3E}">
        <p14:creationId xmlns:p14="http://schemas.microsoft.com/office/powerpoint/2010/main" val="1620041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649F4-40B0-8F9F-CA76-8CC1013CB472}"/>
              </a:ext>
            </a:extLst>
          </p:cNvPr>
          <p:cNvSpPr>
            <a:spLocks noGrp="1"/>
          </p:cNvSpPr>
          <p:nvPr>
            <p:ph type="title"/>
          </p:nvPr>
        </p:nvSpPr>
        <p:spPr>
          <a:xfrm>
            <a:off x="1307939" y="756348"/>
            <a:ext cx="10035251" cy="1188720"/>
          </a:xfrm>
        </p:spPr>
        <p:txBody>
          <a:bodyPr/>
          <a:lstStyle/>
          <a:p>
            <a:pPr algn="ctr"/>
            <a:r>
              <a:rPr lang="en-GB" sz="4000" dirty="0">
                <a:latin typeface="Bookman Old Style" panose="02050604050505020204" pitchFamily="18" charset="0"/>
              </a:rPr>
              <a:t>INTERNET SERVICE &amp; PAYMENT METHOD</a:t>
            </a:r>
            <a:endParaRPr lang="en-US" sz="40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9455C46C-7F28-2A7C-685E-F5BD95C2EF57}"/>
              </a:ext>
            </a:extLst>
          </p:cNvPr>
          <p:cNvSpPr>
            <a:spLocks noGrp="1"/>
          </p:cNvSpPr>
          <p:nvPr>
            <p:ph idx="1"/>
          </p:nvPr>
        </p:nvSpPr>
        <p:spPr>
          <a:xfrm>
            <a:off x="1307940" y="2222340"/>
            <a:ext cx="7488820" cy="4317356"/>
          </a:xfrm>
        </p:spPr>
        <p:txBody>
          <a:bodyPr>
            <a:noAutofit/>
          </a:bodyPr>
          <a:lstStyle/>
          <a:p>
            <a:pPr marL="0" indent="0">
              <a:buNone/>
            </a:pPr>
            <a:r>
              <a:rPr lang="en-GB" dirty="0">
                <a:latin typeface="Bookman Old Style" panose="02050604050505020204" pitchFamily="18" charset="0"/>
              </a:rPr>
              <a:t>Internet service and churn</a:t>
            </a:r>
          </a:p>
          <a:p>
            <a:pPr marL="0" indent="0">
              <a:buNone/>
            </a:pPr>
            <a:r>
              <a:rPr lang="en-GB" dirty="0">
                <a:latin typeface="Bookman Old Style" panose="02050604050505020204" pitchFamily="18" charset="0"/>
              </a:rPr>
              <a:t>Key findings:</a:t>
            </a:r>
          </a:p>
          <a:p>
            <a:pPr marL="0" indent="0">
              <a:buNone/>
            </a:pPr>
            <a:r>
              <a:rPr lang="en-GB" dirty="0">
                <a:latin typeface="Bookman Old Style" panose="02050604050505020204" pitchFamily="18" charset="0"/>
              </a:rPr>
              <a:t>Fibre Optic customers had the highest churn rate, which suggests many customers may not be satisfied with the value they are getting from the service. </a:t>
            </a:r>
          </a:p>
          <a:p>
            <a:pPr marL="0" indent="0">
              <a:buNone/>
            </a:pPr>
            <a:endParaRPr lang="en-GB" dirty="0">
              <a:latin typeface="Bookman Old Style" panose="02050604050505020204" pitchFamily="18" charset="0"/>
            </a:endParaRPr>
          </a:p>
          <a:p>
            <a:pPr marL="0" indent="0">
              <a:buNone/>
            </a:pPr>
            <a:endParaRPr lang="en-GB" dirty="0">
              <a:latin typeface="Bookman Old Style" panose="02050604050505020204" pitchFamily="18" charset="0"/>
            </a:endParaRPr>
          </a:p>
          <a:p>
            <a:pPr marL="0" indent="0">
              <a:buNone/>
            </a:pPr>
            <a:r>
              <a:rPr lang="en-GB" dirty="0">
                <a:latin typeface="Bookman Old Style" panose="02050604050505020204" pitchFamily="18" charset="0"/>
              </a:rPr>
              <a:t>Payment method and churn</a:t>
            </a:r>
          </a:p>
          <a:p>
            <a:pPr marL="0" indent="0">
              <a:buNone/>
            </a:pPr>
            <a:r>
              <a:rPr lang="en-GB" dirty="0">
                <a:latin typeface="Bookman Old Style" panose="02050604050505020204" pitchFamily="18" charset="0"/>
              </a:rPr>
              <a:t>Electronic check users recorded the highest churn rate, showing this group is more likely to leave than customers using other payment methods. This makes them a key segment that the company should focus on retaining.</a:t>
            </a:r>
          </a:p>
        </p:txBody>
      </p:sp>
      <p:pic>
        <p:nvPicPr>
          <p:cNvPr id="5" name="Picture 4">
            <a:extLst>
              <a:ext uri="{FF2B5EF4-FFF2-40B4-BE49-F238E27FC236}">
                <a16:creationId xmlns:a16="http://schemas.microsoft.com/office/drawing/2014/main" id="{F0B14803-4AB8-7E6E-B0D9-FA98711B3F65}"/>
              </a:ext>
            </a:extLst>
          </p:cNvPr>
          <p:cNvPicPr>
            <a:picLocks noChangeAspect="1"/>
          </p:cNvPicPr>
          <p:nvPr/>
        </p:nvPicPr>
        <p:blipFill>
          <a:blip r:embed="rId2"/>
          <a:stretch>
            <a:fillRect/>
          </a:stretch>
        </p:blipFill>
        <p:spPr>
          <a:xfrm>
            <a:off x="8895265" y="2222340"/>
            <a:ext cx="2447925" cy="1851949"/>
          </a:xfrm>
          <a:prstGeom prst="rect">
            <a:avLst/>
          </a:prstGeom>
        </p:spPr>
      </p:pic>
      <p:pic>
        <p:nvPicPr>
          <p:cNvPr id="7" name="Picture 6">
            <a:extLst>
              <a:ext uri="{FF2B5EF4-FFF2-40B4-BE49-F238E27FC236}">
                <a16:creationId xmlns:a16="http://schemas.microsoft.com/office/drawing/2014/main" id="{3A6EA2AA-8EF9-C198-3784-02302795D410}"/>
              </a:ext>
            </a:extLst>
          </p:cNvPr>
          <p:cNvPicPr>
            <a:picLocks noChangeAspect="1"/>
          </p:cNvPicPr>
          <p:nvPr/>
        </p:nvPicPr>
        <p:blipFill>
          <a:blip r:embed="rId3"/>
          <a:stretch>
            <a:fillRect/>
          </a:stretch>
        </p:blipFill>
        <p:spPr>
          <a:xfrm>
            <a:off x="8960854" y="4351561"/>
            <a:ext cx="2382335" cy="1963739"/>
          </a:xfrm>
          <a:prstGeom prst="rect">
            <a:avLst/>
          </a:prstGeom>
        </p:spPr>
      </p:pic>
    </p:spTree>
    <p:extLst>
      <p:ext uri="{BB962C8B-B14F-4D97-AF65-F5344CB8AC3E}">
        <p14:creationId xmlns:p14="http://schemas.microsoft.com/office/powerpoint/2010/main" val="2738061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1725C-FA8E-D841-F404-13FFBDF455DD}"/>
              </a:ext>
            </a:extLst>
          </p:cNvPr>
          <p:cNvSpPr>
            <a:spLocks noGrp="1"/>
          </p:cNvSpPr>
          <p:nvPr>
            <p:ph type="title"/>
          </p:nvPr>
        </p:nvSpPr>
        <p:spPr>
          <a:xfrm>
            <a:off x="1342663" y="964692"/>
            <a:ext cx="9236598" cy="1188720"/>
          </a:xfrm>
        </p:spPr>
        <p:txBody>
          <a:bodyPr/>
          <a:lstStyle/>
          <a:p>
            <a:pPr algn="ctr"/>
            <a:r>
              <a:rPr lang="en-GB" sz="4000" dirty="0">
                <a:latin typeface="Bookman Old Style" panose="02050604050505020204" pitchFamily="18" charset="0"/>
              </a:rPr>
              <a:t>MONTHLY CHARGES</a:t>
            </a:r>
            <a:endParaRPr lang="en-US" sz="40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A06A51A5-CF8F-3F82-5346-7A14FB1579DF}"/>
              </a:ext>
            </a:extLst>
          </p:cNvPr>
          <p:cNvSpPr>
            <a:spLocks noGrp="1"/>
          </p:cNvSpPr>
          <p:nvPr>
            <p:ph idx="1"/>
          </p:nvPr>
        </p:nvSpPr>
        <p:spPr>
          <a:xfrm>
            <a:off x="1342664" y="2348677"/>
            <a:ext cx="6296628" cy="3101983"/>
          </a:xfrm>
        </p:spPr>
        <p:txBody>
          <a:bodyPr/>
          <a:lstStyle/>
          <a:p>
            <a:pPr marL="0" indent="0">
              <a:buNone/>
            </a:pPr>
            <a:r>
              <a:rPr lang="en-GB" u="sng" dirty="0">
                <a:latin typeface="Bookman Old Style" panose="02050604050505020204" pitchFamily="18" charset="0"/>
              </a:rPr>
              <a:t>Monthly charges and churn</a:t>
            </a:r>
          </a:p>
          <a:p>
            <a:pPr marL="0" indent="0">
              <a:buNone/>
            </a:pPr>
            <a:r>
              <a:rPr lang="en-GB" dirty="0">
                <a:latin typeface="Bookman Old Style" panose="02050604050505020204" pitchFamily="18" charset="0"/>
              </a:rPr>
              <a:t>Key findings:</a:t>
            </a:r>
          </a:p>
          <a:p>
            <a:pPr marL="0" indent="0">
              <a:buNone/>
            </a:pPr>
            <a:r>
              <a:rPr lang="en-GB" dirty="0">
                <a:latin typeface="Bookman Old Style" panose="02050604050505020204" pitchFamily="18" charset="0"/>
              </a:rPr>
              <a:t>Customers who churned had higher average monthly charges than retained customers, indicating that pricing may be an important factor influencing customer churn</a:t>
            </a:r>
            <a:endParaRPr lang="en-US" dirty="0">
              <a:latin typeface="Bookman Old Style" panose="02050604050505020204" pitchFamily="18" charset="0"/>
            </a:endParaRPr>
          </a:p>
        </p:txBody>
      </p:sp>
      <p:pic>
        <p:nvPicPr>
          <p:cNvPr id="5" name="Picture 4">
            <a:extLst>
              <a:ext uri="{FF2B5EF4-FFF2-40B4-BE49-F238E27FC236}">
                <a16:creationId xmlns:a16="http://schemas.microsoft.com/office/drawing/2014/main" id="{89DF6283-5B78-E716-FFB1-E745549714A3}"/>
              </a:ext>
            </a:extLst>
          </p:cNvPr>
          <p:cNvPicPr>
            <a:picLocks noChangeAspect="1"/>
          </p:cNvPicPr>
          <p:nvPr/>
        </p:nvPicPr>
        <p:blipFill>
          <a:blip r:embed="rId2"/>
          <a:stretch>
            <a:fillRect/>
          </a:stretch>
        </p:blipFill>
        <p:spPr>
          <a:xfrm>
            <a:off x="8009681" y="2348676"/>
            <a:ext cx="2963119" cy="3101983"/>
          </a:xfrm>
          <a:prstGeom prst="rect">
            <a:avLst/>
          </a:prstGeom>
        </p:spPr>
      </p:pic>
    </p:spTree>
    <p:extLst>
      <p:ext uri="{BB962C8B-B14F-4D97-AF65-F5344CB8AC3E}">
        <p14:creationId xmlns:p14="http://schemas.microsoft.com/office/powerpoint/2010/main" val="389889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E43E-F4BC-FC4B-6469-E4F55F327E8B}"/>
              </a:ext>
            </a:extLst>
          </p:cNvPr>
          <p:cNvSpPr>
            <a:spLocks noGrp="1"/>
          </p:cNvSpPr>
          <p:nvPr>
            <p:ph type="title"/>
          </p:nvPr>
        </p:nvSpPr>
        <p:spPr>
          <a:xfrm>
            <a:off x="646111" y="452718"/>
            <a:ext cx="9404723" cy="901520"/>
          </a:xfrm>
        </p:spPr>
        <p:txBody>
          <a:bodyPr/>
          <a:lstStyle/>
          <a:p>
            <a:pPr algn="ctr"/>
            <a:r>
              <a:rPr lang="en-GB" sz="4000" dirty="0">
                <a:latin typeface="Bookman Old Style" panose="02050604050505020204" pitchFamily="18" charset="0"/>
              </a:rPr>
              <a:t>RECOMMENDATIONS</a:t>
            </a:r>
            <a:endParaRPr lang="en-US" sz="40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6C220DF1-B4F5-1507-3E8B-F587F34D8C4C}"/>
              </a:ext>
            </a:extLst>
          </p:cNvPr>
          <p:cNvSpPr>
            <a:spLocks noGrp="1"/>
          </p:cNvSpPr>
          <p:nvPr>
            <p:ph idx="1"/>
          </p:nvPr>
        </p:nvSpPr>
        <p:spPr>
          <a:xfrm>
            <a:off x="1103312" y="1435262"/>
            <a:ext cx="8946541" cy="4813138"/>
          </a:xfrm>
        </p:spPr>
        <p:txBody>
          <a:bodyPr>
            <a:normAutofit/>
          </a:bodyPr>
          <a:lstStyle/>
          <a:p>
            <a:r>
              <a:rPr lang="en-GB" dirty="0">
                <a:latin typeface="Bookman Old Style" panose="02050604050505020204" pitchFamily="18" charset="0"/>
              </a:rPr>
              <a:t>There is a need to review pricing strategies and strengthen the value proposition for higher paying customers. This can be achieved through service improvements, target retain offers, loyalty programs that help customers perceive greater value from the services</a:t>
            </a:r>
          </a:p>
          <a:p>
            <a:r>
              <a:rPr lang="en-GB" dirty="0">
                <a:latin typeface="Bookman Old Style" panose="02050604050505020204" pitchFamily="18" charset="0"/>
              </a:rPr>
              <a:t>Introduce customer onboarding and support programs to help new customers to  better understand and use the company services during early months.</a:t>
            </a:r>
          </a:p>
          <a:p>
            <a:r>
              <a:rPr lang="en-GB" dirty="0">
                <a:latin typeface="Bookman Old Style" panose="02050604050505020204" pitchFamily="18" charset="0"/>
              </a:rPr>
              <a:t>Encourage customers to switch to automatic payment methods through incentives and easy enrolment, as customers using these payments options exhibited lower churn rates</a:t>
            </a:r>
          </a:p>
          <a:p>
            <a:r>
              <a:rPr lang="en-GB" dirty="0">
                <a:latin typeface="Bookman Old Style" panose="02050604050505020204" pitchFamily="18" charset="0"/>
              </a:rPr>
              <a:t>Encourage customers on month-to-month plans to transition to longer-term contracts, as customers on one-year and two-year contracts recorded lower churn rates</a:t>
            </a:r>
          </a:p>
          <a:p>
            <a:pPr marL="0" indent="0">
              <a:buNone/>
            </a:pPr>
            <a:endParaRPr lang="en-GB" dirty="0">
              <a:latin typeface="Bookman Old Style" panose="02050604050505020204" pitchFamily="18" charset="0"/>
            </a:endParaRPr>
          </a:p>
          <a:p>
            <a:endParaRPr lang="en-GB" dirty="0"/>
          </a:p>
          <a:p>
            <a:endParaRPr lang="en-GB" dirty="0"/>
          </a:p>
          <a:p>
            <a:endParaRPr lang="en-US" dirty="0"/>
          </a:p>
        </p:txBody>
      </p:sp>
    </p:spTree>
    <p:extLst>
      <p:ext uri="{BB962C8B-B14F-4D97-AF65-F5344CB8AC3E}">
        <p14:creationId xmlns:p14="http://schemas.microsoft.com/office/powerpoint/2010/main" val="33350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95B7-A901-B9D4-25C6-59697C1C14C0}"/>
              </a:ext>
            </a:extLst>
          </p:cNvPr>
          <p:cNvSpPr>
            <a:spLocks noGrp="1"/>
          </p:cNvSpPr>
          <p:nvPr>
            <p:ph type="title"/>
          </p:nvPr>
        </p:nvSpPr>
        <p:spPr/>
        <p:txBody>
          <a:bodyPr/>
          <a:lstStyle/>
          <a:p>
            <a:pPr algn="ctr"/>
            <a:r>
              <a:rPr lang="en-GB" sz="4000" dirty="0">
                <a:latin typeface="Bookman Old Style" panose="02050604050505020204" pitchFamily="18" charset="0"/>
              </a:rPr>
              <a:t>CONCLUSION</a:t>
            </a:r>
            <a:endParaRPr lang="en-US" sz="4000" dirty="0">
              <a:latin typeface="Bookman Old Style" panose="02050604050505020204" pitchFamily="18" charset="0"/>
            </a:endParaRPr>
          </a:p>
        </p:txBody>
      </p:sp>
      <p:sp>
        <p:nvSpPr>
          <p:cNvPr id="3" name="Content Placeholder 2">
            <a:extLst>
              <a:ext uri="{FF2B5EF4-FFF2-40B4-BE49-F238E27FC236}">
                <a16:creationId xmlns:a16="http://schemas.microsoft.com/office/drawing/2014/main" id="{8489DE94-5096-957F-91B5-414FD3ED8C17}"/>
              </a:ext>
            </a:extLst>
          </p:cNvPr>
          <p:cNvSpPr>
            <a:spLocks noGrp="1"/>
          </p:cNvSpPr>
          <p:nvPr>
            <p:ph idx="1"/>
          </p:nvPr>
        </p:nvSpPr>
        <p:spPr/>
        <p:txBody>
          <a:bodyPr/>
          <a:lstStyle/>
          <a:p>
            <a:pPr marL="0" indent="0">
              <a:buNone/>
            </a:pPr>
            <a:endParaRPr lang="en-GB" dirty="0"/>
          </a:p>
          <a:p>
            <a:pPr marL="0" indent="0">
              <a:buNone/>
            </a:pPr>
            <a:r>
              <a:rPr lang="en-GB" dirty="0">
                <a:latin typeface="Bookman Old Style" panose="02050604050505020204" pitchFamily="18" charset="0"/>
              </a:rPr>
              <a:t>The analysis identified tenure, contract type, monthly charges, internet service, and payment method as key drivers of customer churn. Focusing retention efforts on high-risk customer segments can help reduce churn and improve customer loyalty.</a:t>
            </a:r>
            <a:endParaRPr lang="en-US" dirty="0">
              <a:latin typeface="Bookman Old Style" panose="02050604050505020204" pitchFamily="18" charset="0"/>
            </a:endParaRPr>
          </a:p>
        </p:txBody>
      </p:sp>
    </p:spTree>
    <p:extLst>
      <p:ext uri="{BB962C8B-B14F-4D97-AF65-F5344CB8AC3E}">
        <p14:creationId xmlns:p14="http://schemas.microsoft.com/office/powerpoint/2010/main" val="20411412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744</TotalTime>
  <Words>583</Words>
  <Application>Microsoft Office PowerPoint</Application>
  <PresentationFormat>Widescreen</PresentationFormat>
  <Paragraphs>64</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Bookman Old Style</vt:lpstr>
      <vt:lpstr>Calibri</vt:lpstr>
      <vt:lpstr>Century Gothic</vt:lpstr>
      <vt:lpstr>Wingdings</vt:lpstr>
      <vt:lpstr>Wingdings 3</vt:lpstr>
      <vt:lpstr>Ion</vt:lpstr>
      <vt:lpstr>Telecom customer churn</vt:lpstr>
      <vt:lpstr>BUSINESS PROBLEM STATEMENT</vt:lpstr>
      <vt:lpstr>DATASET OVERVIEW</vt:lpstr>
      <vt:lpstr>CONTRACT TYPE &amp; TENURE</vt:lpstr>
      <vt:lpstr>INTERNET SERVICE &amp; PAYMENT METHOD</vt:lpstr>
      <vt:lpstr>MONTHLY CHARGES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Ajetunmobi</dc:creator>
  <cp:lastModifiedBy>Mariam Ajetunmobi</cp:lastModifiedBy>
  <cp:revision>1</cp:revision>
  <dcterms:created xsi:type="dcterms:W3CDTF">2026-07-04T03:56:49Z</dcterms:created>
  <dcterms:modified xsi:type="dcterms:W3CDTF">2026-07-04T16:21:21Z</dcterms:modified>
</cp:coreProperties>
</file>